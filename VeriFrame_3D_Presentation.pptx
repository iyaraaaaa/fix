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640080"/>
            <a:ext cx="4114800" cy="347472"/>
          </a:xfrm>
          <a:prstGeom prst="roundRect">
            <a:avLst/>
          </a:prstGeom>
          <a:solidFill>
            <a:srgbClr val="061020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⚡ NEXT-GEN AI FORENSICS &amp; VERIFICATION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62179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Arial Black"/>
              </a:defRPr>
            </a:pPr>
            <a:r>
              <a:t>VERIFRAME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5852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78E1FF"/>
                </a:solidFill>
                <a:latin typeface="Segoe UI"/>
              </a:defRPr>
            </a:pPr>
            <a:r>
              <a:t>Real-Time Deepfake Detection &amp; Video Authenticity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35808"/>
            <a:ext cx="5303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A5B9D2"/>
                </a:solidFill>
                <a:latin typeface="Calibri"/>
              </a:defRPr>
            </a:pPr>
            <a:r>
              <a:t>Engineered with a high-precision Cross-Efficient-ViT neural architecture, adaptive multi-scale frame sampling, triple-engine face detection fallback (MTCNN + MediaPipe), and Platt temperature-calibrated forensic reporting.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1691640" cy="1280160"/>
          </a:xfrm>
          <a:prstGeom prst="roundRect">
            <a:avLst/>
          </a:prstGeom>
          <a:solidFill>
            <a:srgbClr val="080F1E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28016" bIns="9144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97.68%</a:t>
            </a:r>
          </a:p>
          <a:p>
            <a:pPr>
              <a:spcBef>
                <a:spcPts val="400"/>
              </a:spcBef>
              <a:defRPr sz="850" b="1">
                <a:solidFill>
                  <a:srgbClr val="00F0FF"/>
                </a:solidFill>
                <a:latin typeface="Segoe UI"/>
              </a:defRPr>
            </a:pPr>
            <a:r>
              <a:t>ROC-AUC BENCHMARK</a:t>
            </a:r>
          </a:p>
          <a:p>
            <a:pPr>
              <a:spcBef>
                <a:spcPts val="200"/>
              </a:spcBef>
              <a:defRPr sz="750">
                <a:solidFill>
                  <a:srgbClr val="A5B9D2"/>
                </a:solidFill>
                <a:latin typeface="Calibri"/>
              </a:defRPr>
            </a:pPr>
            <a:r>
              <a:t>DFDC &amp; FaceForensics++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4343400"/>
            <a:ext cx="1691640" cy="1280160"/>
          </a:xfrm>
          <a:prstGeom prst="roundRect">
            <a:avLst/>
          </a:prstGeom>
          <a:solidFill>
            <a:srgbClr val="080F1E"/>
          </a:solidFill>
          <a:ln w="15240">
            <a:solidFill>
              <a:srgbClr val="00F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28016" bIns="9144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91.0%</a:t>
            </a:r>
          </a:p>
          <a:p>
            <a:pPr>
              <a:spcBef>
                <a:spcPts val="400"/>
              </a:spcBef>
              <a:defRPr sz="850" b="1">
                <a:solidFill>
                  <a:srgbClr val="00FF8C"/>
                </a:solidFill>
                <a:latin typeface="Segoe UI"/>
              </a:defRPr>
            </a:pPr>
            <a:r>
              <a:t>DETECTION ACCURACY</a:t>
            </a:r>
          </a:p>
          <a:p>
            <a:pPr>
              <a:spcBef>
                <a:spcPts val="200"/>
              </a:spcBef>
              <a:defRPr sz="750">
                <a:solidFill>
                  <a:srgbClr val="A5B9D2"/>
                </a:solidFill>
                <a:latin typeface="Calibri"/>
              </a:defRPr>
            </a:pPr>
            <a:r>
              <a:t>Balanced Test Corpus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343400"/>
            <a:ext cx="1691640" cy="1280160"/>
          </a:xfrm>
          <a:prstGeom prst="roundRect">
            <a:avLst/>
          </a:prstGeom>
          <a:solidFill>
            <a:srgbClr val="080F1E"/>
          </a:solidFill>
          <a:ln w="15240">
            <a:solidFill>
              <a:srgbClr val="FFB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28016" bIns="9144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&lt; 300ms</a:t>
            </a:r>
          </a:p>
          <a:p>
            <a:pPr>
              <a:spcBef>
                <a:spcPts val="400"/>
              </a:spcBef>
              <a:defRPr sz="850" b="1">
                <a:solidFill>
                  <a:srgbClr val="FFB928"/>
                </a:solidFill>
                <a:latin typeface="Segoe UI"/>
              </a:defRPr>
            </a:pPr>
            <a:r>
              <a:t>EDGE LATENCY</a:t>
            </a:r>
          </a:p>
          <a:p>
            <a:pPr>
              <a:spcBef>
                <a:spcPts val="200"/>
              </a:spcBef>
              <a:defRPr sz="750">
                <a:solidFill>
                  <a:srgbClr val="A5B9D2"/>
                </a:solidFill>
                <a:latin typeface="Calibri"/>
              </a:defRPr>
            </a:pPr>
            <a:r>
              <a:t>TFLite FP16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051560"/>
            <a:ext cx="3474720" cy="502920"/>
          </a:xfrm>
          <a:prstGeom prst="roundRect">
            <a:avLst/>
          </a:prstGeom>
          <a:solidFill>
            <a:srgbClr val="060C18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◉ Cross-Efficient-ViT Attention Core</a:t>
            </a:r>
          </a:p>
          <a:p>
            <a:pPr>
              <a:defRPr sz="800">
                <a:solidFill>
                  <a:srgbClr val="A5B9D2"/>
                </a:solidFill>
                <a:latin typeface="Calibri"/>
              </a:defRPr>
            </a:pPr>
            <a:r>
              <a:t>Spatial-frequency anomaly feature maps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3291840"/>
            <a:ext cx="3383280" cy="502920"/>
          </a:xfrm>
          <a:prstGeom prst="roundRect">
            <a:avLst/>
          </a:prstGeom>
          <a:solidFill>
            <a:srgbClr val="060C18"/>
          </a:solidFill>
          <a:ln w="12700">
            <a:solidFill>
              <a:srgbClr val="00F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950" b="1">
                <a:solidFill>
                  <a:srgbClr val="00FF8C"/>
                </a:solidFill>
                <a:latin typeface="Segoe UI"/>
              </a:defRPr>
            </a:pPr>
            <a:r>
              <a:t>◉ 68-Point Facial Landmark Mesh</a:t>
            </a:r>
          </a:p>
          <a:p>
            <a:pPr>
              <a:defRPr sz="800">
                <a:solidFill>
                  <a:srgbClr val="A5B9D2"/>
                </a:solidFill>
                <a:latin typeface="Calibri"/>
              </a:defRPr>
            </a:pPr>
            <a:r>
              <a:t>MTCNN + MediaPipe real-time tracking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5303520"/>
            <a:ext cx="3474720" cy="502920"/>
          </a:xfrm>
          <a:prstGeom prst="roundRect">
            <a:avLst/>
          </a:prstGeom>
          <a:solidFill>
            <a:srgbClr val="060C18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◉ Platt Temperature Calibration</a:t>
            </a:r>
          </a:p>
          <a:p>
            <a:pPr>
              <a:defRPr sz="800">
                <a:solidFill>
                  <a:srgbClr val="A5B9D2"/>
                </a:solidFill>
                <a:latin typeface="Calibri"/>
              </a:defRPr>
            </a:pPr>
            <a:r>
              <a:t>Confidence smoothing &amp; SHA-256 report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722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D9B"/>
                </a:solidFill>
                <a:latin typeface="Segoe UI"/>
              </a:defRPr>
            </a:pPr>
            <a:r>
              <a:t>VeriFrame Forensic Core v2.4   |   Final Year Capstone Project   |   Deep Learning &amp; Media Forensics   | 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