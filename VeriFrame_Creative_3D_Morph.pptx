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CKGROUND" descr="amson_bg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HERO_3D" descr="hero_3d_pop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7200"/>
            <a:ext cx="6217920" cy="5943600"/>
          </a:xfrm>
          <a:prstGeom prst="rect">
            <a:avLst/>
          </a:prstGeom>
        </p:spPr>
      </p:pic>
      <p:sp>
        <p:nvSpPr>
          <p:cNvPr id="4" name="!!PILL_BADGE"/>
          <p:cNvSpPr/>
          <p:nvPr/>
        </p:nvSpPr>
        <p:spPr>
          <a:xfrm>
            <a:off x="731520" y="685800"/>
            <a:ext cx="4114800" cy="347472"/>
          </a:xfrm>
          <a:prstGeom prst="roundRect">
            <a:avLst/>
          </a:prstGeom>
          <a:solidFill>
            <a:srgbClr val="070E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⚡ NEXT-GEN AI FORENSICS &amp; VERIFICATION</a:t>
            </a:r>
          </a:p>
        </p:txBody>
      </p:sp>
      <p:sp>
        <p:nvSpPr>
          <p:cNvPr id="5" name="!!MAIN_TITLE"/>
          <p:cNvSpPr txBox="1"/>
          <p:nvPr/>
        </p:nvSpPr>
        <p:spPr>
          <a:xfrm>
            <a:off x="685800" y="1188720"/>
            <a:ext cx="53035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 Black"/>
              </a:defRPr>
            </a:pPr>
            <a:r>
              <a:t>VERIFRAME</a:t>
            </a:r>
          </a:p>
        </p:txBody>
      </p:sp>
      <p:sp>
        <p:nvSpPr>
          <p:cNvPr id="6" name="!!TAGLINE"/>
          <p:cNvSpPr txBox="1"/>
          <p:nvPr/>
        </p:nvSpPr>
        <p:spPr>
          <a:xfrm>
            <a:off x="731520" y="2240280"/>
            <a:ext cx="53035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78E1FF"/>
                </a:solidFill>
                <a:latin typeface="Segoe UI"/>
              </a:defRPr>
            </a:pPr>
            <a:r>
              <a:t>Real-Time Deepfake Detection &amp; Video Authenticity Verification</a:t>
            </a:r>
          </a:p>
        </p:txBody>
      </p:sp>
      <p:sp>
        <p:nvSpPr>
          <p:cNvPr id="7" name="!!DESC"/>
          <p:cNvSpPr txBox="1"/>
          <p:nvPr/>
        </p:nvSpPr>
        <p:spPr>
          <a:xfrm>
            <a:off x="731520" y="3017520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A5B9D2"/>
                </a:solidFill>
                <a:latin typeface="Calibri"/>
              </a:defRPr>
            </a:pPr>
            <a:r>
              <a:t>Engineered with a high-precision Cross-Efficient-ViT neural architecture, adaptive multi-scale frame sampling, triple-engine face detection fallback (MTCNN + MediaPipe), and Platt temperature-calibrated forensic reporting.</a:t>
            </a:r>
          </a:p>
        </p:txBody>
      </p:sp>
      <p:sp>
        <p:nvSpPr>
          <p:cNvPr id="8" name="!!CARD_1"/>
          <p:cNvSpPr/>
          <p:nvPr/>
        </p:nvSpPr>
        <p:spPr>
          <a:xfrm>
            <a:off x="731520" y="4389120"/>
            <a:ext cx="1554480" cy="1234440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97.68%</a:t>
            </a:r>
          </a:p>
          <a:p>
            <a:pPr>
              <a:spcBef>
                <a:spcPts val="400"/>
              </a:spcBef>
              <a:defRPr sz="850" b="1">
                <a:solidFill>
                  <a:srgbClr val="00F0FF"/>
                </a:solidFill>
                <a:latin typeface="Segoe UI"/>
              </a:defRPr>
            </a:pPr>
            <a:r>
              <a:t>ROC-AUC SCORE</a:t>
            </a:r>
          </a:p>
          <a:p>
            <a:pPr>
              <a:spcBef>
                <a:spcPts val="200"/>
              </a:spcBef>
              <a:defRPr sz="750">
                <a:solidFill>
                  <a:srgbClr val="A5B9D2"/>
                </a:solidFill>
                <a:latin typeface="Calibri"/>
              </a:defRPr>
            </a:pPr>
            <a:r>
              <a:t>DFDC &amp; FaceForensics++</a:t>
            </a:r>
          </a:p>
        </p:txBody>
      </p:sp>
      <p:sp>
        <p:nvSpPr>
          <p:cNvPr id="9" name="!!CARD_2"/>
          <p:cNvSpPr/>
          <p:nvPr/>
        </p:nvSpPr>
        <p:spPr>
          <a:xfrm>
            <a:off x="2423160" y="4389120"/>
            <a:ext cx="1554480" cy="1234440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91.0%</a:t>
            </a:r>
          </a:p>
          <a:p>
            <a:pPr>
              <a:spcBef>
                <a:spcPts val="400"/>
              </a:spcBef>
              <a:defRPr sz="850" b="1">
                <a:solidFill>
                  <a:srgbClr val="00FF88"/>
                </a:solidFill>
                <a:latin typeface="Segoe UI"/>
              </a:defRPr>
            </a:pPr>
            <a:r>
              <a:t>MODEL ACCURACY</a:t>
            </a:r>
          </a:p>
          <a:p>
            <a:pPr>
              <a:spcBef>
                <a:spcPts val="200"/>
              </a:spcBef>
              <a:defRPr sz="750">
                <a:solidFill>
                  <a:srgbClr val="A5B9D2"/>
                </a:solidFill>
                <a:latin typeface="Calibri"/>
              </a:defRPr>
            </a:pPr>
            <a:r>
              <a:t>Balanced Test Corpus</a:t>
            </a:r>
          </a:p>
        </p:txBody>
      </p:sp>
      <p:sp>
        <p:nvSpPr>
          <p:cNvPr id="10" name="!!CARD_3"/>
          <p:cNvSpPr/>
          <p:nvPr/>
        </p:nvSpPr>
        <p:spPr>
          <a:xfrm>
            <a:off x="4114800" y="4389120"/>
            <a:ext cx="1554480" cy="1234440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28016" bIns="9144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&lt; 300ms</a:t>
            </a:r>
          </a:p>
          <a:p>
            <a:pPr>
              <a:spcBef>
                <a:spcPts val="400"/>
              </a:spcBef>
              <a:defRPr sz="850" b="1">
                <a:solidFill>
                  <a:srgbClr val="FFAA00"/>
                </a:solidFill>
                <a:latin typeface="Segoe UI"/>
              </a:defRPr>
            </a:pPr>
            <a:r>
              <a:t>EDGE LATENCY</a:t>
            </a:r>
          </a:p>
          <a:p>
            <a:pPr>
              <a:spcBef>
                <a:spcPts val="200"/>
              </a:spcBef>
              <a:defRPr sz="750">
                <a:solidFill>
                  <a:srgbClr val="A5B9D2"/>
                </a:solidFill>
                <a:latin typeface="Calibri"/>
              </a:defRPr>
            </a:pPr>
            <a:r>
              <a:t>Rolling Window FP16</a:t>
            </a:r>
          </a:p>
        </p:txBody>
      </p:sp>
      <p:sp>
        <p:nvSpPr>
          <p:cNvPr id="11" name="!!HUD_1"/>
          <p:cNvSpPr/>
          <p:nvPr/>
        </p:nvSpPr>
        <p:spPr>
          <a:xfrm>
            <a:off x="7589520" y="1005840"/>
            <a:ext cx="3291840" cy="457200"/>
          </a:xfrm>
          <a:prstGeom prst="roundRect">
            <a:avLst/>
          </a:prstGeom>
          <a:solidFill>
            <a:srgbClr val="060C1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  <a:latin typeface="Segoe UI"/>
              </a:defRPr>
            </a:pPr>
            <a:r>
              <a:t>◉ Cross-Efficient-ViT Core</a:t>
            </a:r>
          </a:p>
          <a:p>
            <a:pPr>
              <a:defRPr sz="750">
                <a:solidFill>
                  <a:srgbClr val="A5B9D2"/>
                </a:solidFill>
                <a:latin typeface="Calibri"/>
              </a:defRPr>
            </a:pPr>
            <a:r>
              <a:t>Vision Transformer spatial attention</a:t>
            </a:r>
          </a:p>
        </p:txBody>
      </p:sp>
      <p:sp>
        <p:nvSpPr>
          <p:cNvPr id="12" name="!!HUD_2"/>
          <p:cNvSpPr/>
          <p:nvPr/>
        </p:nvSpPr>
        <p:spPr>
          <a:xfrm>
            <a:off x="8412480" y="3200400"/>
            <a:ext cx="3200400" cy="457200"/>
          </a:xfrm>
          <a:prstGeom prst="roundRect">
            <a:avLst/>
          </a:prstGeom>
          <a:solidFill>
            <a:srgbClr val="060C1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F88"/>
                </a:solidFill>
                <a:latin typeface="Segoe UI"/>
              </a:defRPr>
            </a:pPr>
            <a:r>
              <a:t>◉ 68-Point Facial Landmark Mesh</a:t>
            </a:r>
          </a:p>
          <a:p>
            <a:pPr>
              <a:defRPr sz="750">
                <a:solidFill>
                  <a:srgbClr val="A5B9D2"/>
                </a:solidFill>
                <a:latin typeface="Calibri"/>
              </a:defRPr>
            </a:pPr>
            <a:r>
              <a:t>MTCNN + MediaPipe tracking</a:t>
            </a:r>
          </a:p>
        </p:txBody>
      </p:sp>
      <p:sp>
        <p:nvSpPr>
          <p:cNvPr id="13" name="!!HUD_3"/>
          <p:cNvSpPr/>
          <p:nvPr/>
        </p:nvSpPr>
        <p:spPr>
          <a:xfrm>
            <a:off x="7498079" y="5303520"/>
            <a:ext cx="3291840" cy="457200"/>
          </a:xfrm>
          <a:prstGeom prst="roundRect">
            <a:avLst/>
          </a:prstGeom>
          <a:solidFill>
            <a:srgbClr val="060C1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F0FF"/>
                </a:solidFill>
                <a:latin typeface="Segoe UI"/>
              </a:defRPr>
            </a:pPr>
            <a:r>
              <a:t>◉ Platt Temperature Calibration</a:t>
            </a:r>
          </a:p>
          <a:p>
            <a:pPr>
              <a:defRPr sz="750">
                <a:solidFill>
                  <a:srgbClr val="A5B9D2"/>
                </a:solidFill>
                <a:latin typeface="Calibri"/>
              </a:defRPr>
            </a:pPr>
            <a:r>
              <a:t>Confidence smoothing &amp; SHA-256 hash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D9B"/>
                </a:solidFill>
                <a:latin typeface="Segoe UI"/>
              </a:defRPr>
            </a:pPr>
            <a:r>
              <a:t>VeriFrame Forensic Core v2.4   •   Final Year Capstone Project   •   Deep Learning &amp; Media Forensics   •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CKGROUND" descr="amson_bg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HERO_3D" descr="hero_3d_pop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4754880" cy="4572000"/>
          </a:xfrm>
          <a:prstGeom prst="rect">
            <a:avLst/>
          </a:prstGeom>
        </p:spPr>
      </p:pic>
      <p:sp>
        <p:nvSpPr>
          <p:cNvPr id="4" name="!!PILL_BADGE"/>
          <p:cNvSpPr/>
          <p:nvPr/>
        </p:nvSpPr>
        <p:spPr>
          <a:xfrm>
            <a:off x="5212080" y="685800"/>
            <a:ext cx="4754880" cy="347472"/>
          </a:xfrm>
          <a:prstGeom prst="roundRect">
            <a:avLst/>
          </a:prstGeom>
          <a:solidFill>
            <a:srgbClr val="070E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⚡ DEEP DIVE: END-TO-END FORENSIC PIPELINE</a:t>
            </a:r>
          </a:p>
        </p:txBody>
      </p:sp>
      <p:sp>
        <p:nvSpPr>
          <p:cNvPr id="5" name="!!MAIN_TITLE"/>
          <p:cNvSpPr txBox="1"/>
          <p:nvPr/>
        </p:nvSpPr>
        <p:spPr>
          <a:xfrm>
            <a:off x="5212080" y="114300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CORE ARCHITECTURE</a:t>
            </a:r>
          </a:p>
        </p:txBody>
      </p:sp>
      <p:sp>
        <p:nvSpPr>
          <p:cNvPr id="6" name="!!TAGLINE"/>
          <p:cNvSpPr txBox="1"/>
          <p:nvPr/>
        </p:nvSpPr>
        <p:spPr>
          <a:xfrm>
            <a:off x="5212080" y="173736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8E1FF"/>
                </a:solidFill>
                <a:latin typeface="Segoe UI"/>
              </a:defRPr>
            </a:pPr>
            <a:r>
              <a:t>Multi-Stage Spatial Attention, Temporal Calibration &amp; Forensic Output</a:t>
            </a:r>
          </a:p>
        </p:txBody>
      </p:sp>
      <p:sp>
        <p:nvSpPr>
          <p:cNvPr id="7" name="!!CARD_1"/>
          <p:cNvSpPr/>
          <p:nvPr/>
        </p:nvSpPr>
        <p:spPr>
          <a:xfrm>
            <a:off x="5212080" y="2240280"/>
            <a:ext cx="6309360" cy="1143000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00F0FF"/>
                </a:solidFill>
                <a:latin typeface="Segoe UI"/>
              </a:defRPr>
            </a:pPr>
            <a:r>
              <a:t>01. Cross-Efficient-ViT Vision Transformer</a:t>
            </a:r>
          </a:p>
          <a:p>
            <a:pPr>
              <a:spcBef>
                <a:spcPts val="300"/>
              </a:spcBef>
              <a:defRPr sz="1050">
                <a:solidFill>
                  <a:srgbClr val="A5B9D2"/>
                </a:solidFill>
                <a:latin typeface="Calibri"/>
              </a:defRPr>
            </a:pPr>
            <a:r>
              <a:t>Fuses EfficientNet spatial convolution with multi-head self-attention. Detects subtle high-frequency artifacts, compression incongruities, and synthetic facial warping with 97.68% ROC-AUC.</a:t>
            </a:r>
          </a:p>
        </p:txBody>
      </p:sp>
      <p:sp>
        <p:nvSpPr>
          <p:cNvPr id="8" name="!!CARD_2"/>
          <p:cNvSpPr/>
          <p:nvPr/>
        </p:nvSpPr>
        <p:spPr>
          <a:xfrm>
            <a:off x="5212080" y="3520440"/>
            <a:ext cx="6309360" cy="1143000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02. Adaptive Frame Sampling &amp; 3-Tier Face Tracking</a:t>
            </a:r>
          </a:p>
          <a:p>
            <a:pPr>
              <a:spcBef>
                <a:spcPts val="300"/>
              </a:spcBef>
              <a:defRPr sz="1050">
                <a:solidFill>
                  <a:srgbClr val="A5B9D2"/>
                </a:solidFill>
                <a:latin typeface="Calibri"/>
              </a:defRPr>
            </a:pPr>
            <a:r>
              <a:t>Intelligently samples 20-40 informative frames (scene shifts, motion peaks). Triple fallback (MTCNN -&gt; MediaPipe -&gt; Haar) guarantees continuous tracking across extreme yaw, pitch, and partial occlusions.</a:t>
            </a:r>
          </a:p>
        </p:txBody>
      </p:sp>
      <p:sp>
        <p:nvSpPr>
          <p:cNvPr id="9" name="!!CARD_3"/>
          <p:cNvSpPr/>
          <p:nvPr/>
        </p:nvSpPr>
        <p:spPr>
          <a:xfrm>
            <a:off x="5212080" y="4800600"/>
            <a:ext cx="6309360" cy="1143000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91440"/>
          <a:lstStyle/>
          <a:p>
            <a:pPr algn="ctr">
              <a:defRPr sz="1200" b="1">
                <a:solidFill>
                  <a:srgbClr val="FFAA00"/>
                </a:solidFill>
                <a:latin typeface="Segoe UI"/>
              </a:defRPr>
            </a:pPr>
            <a:r>
              <a:t>03. Temporal Smoothing &amp; Cryptographic Verification</a:t>
            </a:r>
          </a:p>
          <a:p>
            <a:pPr>
              <a:spcBef>
                <a:spcPts val="300"/>
              </a:spcBef>
              <a:defRPr sz="1050">
                <a:solidFill>
                  <a:srgbClr val="A5B9D2"/>
                </a:solidFill>
                <a:latin typeface="Calibri"/>
              </a:defRPr>
            </a:pPr>
            <a:r>
              <a:t>A 30-frame rolling window with Platt temperature scaling stabilizes predictions and eliminates isolated false triggers. Automatically issues SHA-256 tamper-evident forensic verification certificates.</a:t>
            </a:r>
          </a:p>
        </p:txBody>
      </p:sp>
      <p:sp>
        <p:nvSpPr>
          <p:cNvPr id="10" name="!!FOOTER"/>
          <p:cNvSpPr txBox="1"/>
          <p:nvPr/>
        </p:nvSpPr>
        <p:spPr>
          <a:xfrm>
            <a:off x="5212080" y="621792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D9B"/>
                </a:solidFill>
                <a:latin typeface="Segoe UI"/>
              </a:defRPr>
            </a:pPr>
            <a:r>
              <a:t>VeriFrame Architecture Overview   •   Slide 02   •   Morph Transition Active</a:t>
            </a:r>
          </a:p>
        </p:txBody>
      </p:sp>
    </p:spTree>
  </p:cSld>
  <p:transition xmlns:p14="http://schemas.microsoft.com/office/powerpoint/2010/main" spd="med">
    <p14:morph option="byObject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BACKGROUND" descr="amson_bg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!!HERO_3D" descr="mobile_mockup_slid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6928"/>
            <a:ext cx="3154680" cy="5715000"/>
          </a:xfrm>
          <a:prstGeom prst="rect">
            <a:avLst/>
          </a:prstGeom>
        </p:spPr>
      </p:pic>
      <p:sp>
        <p:nvSpPr>
          <p:cNvPr id="4" name="!!PILL_BADGE"/>
          <p:cNvSpPr/>
          <p:nvPr/>
        </p:nvSpPr>
        <p:spPr>
          <a:xfrm>
            <a:off x="4526280" y="621792"/>
            <a:ext cx="4754880" cy="329184"/>
          </a:xfrm>
          <a:prstGeom prst="roundRect">
            <a:avLst/>
          </a:prstGeom>
          <a:solidFill>
            <a:srgbClr val="070E1C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" bIns="18288"/>
          <a:lstStyle/>
          <a:p>
            <a:pPr algn="ctr">
              <a:defRPr sz="950" b="1">
                <a:solidFill>
                  <a:srgbClr val="00F0FF"/>
                </a:solidFill>
                <a:latin typeface="Segoe UI"/>
              </a:defRPr>
            </a:pPr>
            <a:r>
              <a:t>⚡ SYSTEM DEMONSTRATION &amp; LIVE EXECUTION</a:t>
            </a:r>
          </a:p>
        </p:txBody>
      </p:sp>
      <p:sp>
        <p:nvSpPr>
          <p:cNvPr id="5" name="!!MAIN_TITLE"/>
          <p:cNvSpPr txBox="1"/>
          <p:nvPr/>
        </p:nvSpPr>
        <p:spPr>
          <a:xfrm>
            <a:off x="4526280" y="1060704"/>
            <a:ext cx="713232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Demonstration of Mobile APP</a:t>
            </a:r>
          </a:p>
        </p:txBody>
      </p:sp>
      <p:sp>
        <p:nvSpPr>
          <p:cNvPr id="6" name="!!TAGLINE"/>
          <p:cNvSpPr txBox="1"/>
          <p:nvPr/>
        </p:nvSpPr>
        <p:spPr>
          <a:xfrm>
            <a:off x="4526280" y="164592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8E1FF"/>
                </a:solidFill>
                <a:latin typeface="Segoe UI"/>
              </a:defRPr>
            </a:pPr>
            <a:r>
              <a:t>Interactive Real-Time Forensics, Multi-Modal Ingestion &amp; Legal Reporting</a:t>
            </a:r>
          </a:p>
        </p:txBody>
      </p:sp>
      <p:sp>
        <p:nvSpPr>
          <p:cNvPr id="7" name="!!CARD_1"/>
          <p:cNvSpPr/>
          <p:nvPr/>
        </p:nvSpPr>
        <p:spPr>
          <a:xfrm>
            <a:off x="4526280" y="2121408"/>
            <a:ext cx="7040880" cy="804672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defRPr sz="1100" b="1">
                <a:solidFill>
                  <a:srgbClr val="00F0FF"/>
                </a:solidFill>
                <a:latin typeface="Segoe UI"/>
              </a:defRPr>
            </a:pPr>
            <a:r>
              <a:t>01. Multi-Modal Media Ingestion &amp; Live Stream</a:t>
            </a:r>
          </a:p>
          <a:p>
            <a:pPr>
              <a:spcBef>
                <a:spcPts val="200"/>
              </a:spcBef>
              <a:defRPr sz="950">
                <a:solidFill>
                  <a:srgbClr val="A5B9D2"/>
                </a:solidFill>
                <a:latin typeface="Calibri"/>
              </a:defRPr>
            </a:pPr>
            <a:r>
              <a:t>Supports real-time 30 FPS camera feeds, local gallery video uploads, and URL scrapers for social platforms (YouTube, TikTok, Reels).</a:t>
            </a:r>
          </a:p>
        </p:txBody>
      </p:sp>
      <p:sp>
        <p:nvSpPr>
          <p:cNvPr id="8" name="!!CARD_2"/>
          <p:cNvSpPr/>
          <p:nvPr/>
        </p:nvSpPr>
        <p:spPr>
          <a:xfrm>
            <a:off x="4526280" y="3017520"/>
            <a:ext cx="7040880" cy="804672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defRPr sz="1100" b="1">
                <a:solidFill>
                  <a:srgbClr val="00FF88"/>
                </a:solidFill>
                <a:latin typeface="Segoe UI"/>
              </a:defRPr>
            </a:pPr>
            <a:r>
              <a:t>02. Real-Time Neural Forensics &amp; Visual Heatmaps</a:t>
            </a:r>
          </a:p>
          <a:p>
            <a:pPr>
              <a:spcBef>
                <a:spcPts val="200"/>
              </a:spcBef>
              <a:defRPr sz="950">
                <a:solidFill>
                  <a:srgbClr val="A5B9D2"/>
                </a:solidFill>
                <a:latin typeface="Calibri"/>
              </a:defRPr>
            </a:pPr>
            <a:r>
              <a:t>Cross-Efficient-ViT extracts spatial manipulation heatmaps, 68-point facial meshes, and evaluates biological rPPG pulse desynchronization.</a:t>
            </a:r>
          </a:p>
        </p:txBody>
      </p:sp>
      <p:sp>
        <p:nvSpPr>
          <p:cNvPr id="9" name="!!CARD_3"/>
          <p:cNvSpPr/>
          <p:nvPr/>
        </p:nvSpPr>
        <p:spPr>
          <a:xfrm>
            <a:off x="4526280" y="3913632"/>
            <a:ext cx="7040880" cy="804672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03. Calibrated Scoring &amp; Gemini Multimodal Reasoning</a:t>
            </a:r>
          </a:p>
          <a:p>
            <a:pPr>
              <a:spcBef>
                <a:spcPts val="200"/>
              </a:spcBef>
              <a:defRPr sz="950">
                <a:solidFill>
                  <a:srgbClr val="A5B9D2"/>
                </a:solidFill>
                <a:latin typeface="Calibri"/>
              </a:defRPr>
            </a:pPr>
            <a:r>
              <a:t>Calculates Platt temperature-calibrated authenticity confidence (97.8%) and uses Gemini 1.5 Pro to explain facial/audio anomalies.</a:t>
            </a:r>
          </a:p>
        </p:txBody>
      </p:sp>
      <p:sp>
        <p:nvSpPr>
          <p:cNvPr id="10" name="!!CARD_4"/>
          <p:cNvSpPr/>
          <p:nvPr/>
        </p:nvSpPr>
        <p:spPr>
          <a:xfrm>
            <a:off x="4526280" y="4809744"/>
            <a:ext cx="7040880" cy="804672"/>
          </a:xfrm>
          <a:prstGeom prst="roundRect">
            <a:avLst/>
          </a:prstGeom>
          <a:solidFill>
            <a:srgbClr val="091022"/>
          </a:solidFill>
          <a:ln w="1524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54864"/>
          <a:lstStyle/>
          <a:p>
            <a:pPr algn="ctr">
              <a:defRPr sz="1100" b="1">
                <a:solidFill>
                  <a:srgbClr val="FFAA00"/>
                </a:solidFill>
                <a:latin typeface="Segoe UI"/>
              </a:defRPr>
            </a:pPr>
            <a:r>
              <a:t>04. Law Enforcement Escalation &amp; SHA-256 PDF</a:t>
            </a:r>
          </a:p>
          <a:p>
            <a:pPr>
              <a:spcBef>
                <a:spcPts val="200"/>
              </a:spcBef>
              <a:defRPr sz="950">
                <a:solidFill>
                  <a:srgbClr val="A5B9D2"/>
                </a:solidFill>
                <a:latin typeface="Calibri"/>
              </a:defRPr>
            </a:pPr>
            <a:r>
              <a:t>Exports court-admissible forensic audit dossiers sealed with SHA-256 hashes, tamper timestamps, and 1-tap police incident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5715000"/>
            <a:ext cx="7040880" cy="310896"/>
          </a:xfrm>
          <a:prstGeom prst="roundRect">
            <a:avLst/>
          </a:prstGeom>
          <a:solidFill>
            <a:srgbClr val="0A1426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0" bIns="0"/>
          <a:lstStyle/>
          <a:p>
            <a:pPr algn="ctr">
              <a:defRPr sz="880" b="1">
                <a:solidFill>
                  <a:srgbClr val="00F0FF"/>
                </a:solidFill>
                <a:latin typeface="Segoe UI"/>
              </a:defRPr>
            </a:pPr>
            <a:r>
              <a:t>▶ LIVE DEMO SHORTCUT: Run launch_live_preview.bat or execute Flutter app for interactive inspection</a:t>
            </a:r>
          </a:p>
        </p:txBody>
      </p:sp>
      <p:sp>
        <p:nvSpPr>
          <p:cNvPr id="12" name="!!FOOTER"/>
          <p:cNvSpPr txBox="1"/>
          <p:nvPr/>
        </p:nvSpPr>
        <p:spPr>
          <a:xfrm>
            <a:off x="4526280" y="6172200"/>
            <a:ext cx="7040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D9B"/>
                </a:solidFill>
                <a:latin typeface="Segoe UI"/>
              </a:defRPr>
            </a:pPr>
            <a:r>
              <a:t>VeriFrame Mobile App Demonstration   •   Slide 03   •   Morph Transition Active</a:t>
            </a:r>
          </a:p>
        </p:txBody>
      </p:sp>
    </p:spTree>
  </p:cSld>
  <p:transition xmlns:p14="http://schemas.microsoft.com/office/powerpoint/2010/main" spd="med">
    <p14:morph option="byObject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